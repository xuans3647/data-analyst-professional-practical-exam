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ff3cfc005_2_75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9ff3cfc005_2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Good morning, team. Over the next 15 minutes, I'll share clear insights from our 6-week sales pilot that will help us sell smarter and maximize our results with the new creative stationery line.</a:t>
            </a:r>
            <a:endParaRPr/>
          </a:p>
        </p:txBody>
      </p:sp>
      <p:sp>
        <p:nvSpPr>
          <p:cNvPr id="128" name="Google Shape;128;g39ff3cfc005_2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ff3cfc005_2_82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9ff3cfc005_2_8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We tested three sales methods across 15,000 customer interactions. Today, we'll look at what actually worked, discuss the time implications, and build a strategy that maximizes our results.</a:t>
            </a:r>
            <a:endParaRPr/>
          </a:p>
        </p:txBody>
      </p:sp>
      <p:sp>
        <p:nvSpPr>
          <p:cNvPr id="135" name="Google Shape;135;g39ff3cfc005_2_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ff3cfc005_2_88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g39ff3cfc005_2_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Before drawing any conclusions, we ensured our data was reliable. We cleaned inconsistencies, handled missing information, and removed clear errors — so every insight today comes from accurate, trustworthy data.</a:t>
            </a:r>
            <a:endParaRPr/>
          </a:p>
        </p:txBody>
      </p:sp>
      <p:sp>
        <p:nvSpPr>
          <p:cNvPr id="142" name="Google Shape;142;g39ff3cfc005_2_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ff3cfc005_2_94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g39ff3cfc005_2_9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We tested three distinct approaches. As you can see, email was our most-used method. Now let’s see if that preference matched our actual results.</a:t>
            </a:r>
            <a:endParaRPr/>
          </a:p>
        </p:txBody>
      </p:sp>
      <p:sp>
        <p:nvSpPr>
          <p:cNvPr id="149" name="Google Shape;149;g39ff3cfc005_2_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ff3cfc005_2_100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g39ff3cfc005_2_10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data speaks for itself. When we combine email with a personal follow-up call, we generate dramatically higher revenue per customer — a 77% improvement over email alone.</a:t>
            </a:r>
            <a:endParaRPr/>
          </a:p>
        </p:txBody>
      </p:sp>
      <p:sp>
        <p:nvSpPr>
          <p:cNvPr id="158" name="Google Shape;158;g39ff3cfc005_2_10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ff3cfc005_2_106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g39ff3cfc005_2_1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Here’s our opportunity: we’re heavily focused on email, but underutilizing our most effective method. Even though we used email three times more often, the combined approach delivers significantly better results per customer.</a:t>
            </a:r>
            <a:endParaRPr/>
          </a:p>
        </p:txBody>
      </p:sp>
      <p:sp>
        <p:nvSpPr>
          <p:cNvPr id="166" name="Google Shape;166;g39ff3cfc005_2_1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ff3cfc005_2_112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9ff3cfc005_2_1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Does the 77% revenue increase justify the time investment? Based on your daily experience, are these estimates accurate — and is the combined approach worth it?</a:t>
            </a:r>
            <a:endParaRPr/>
          </a:p>
        </p:txBody>
      </p:sp>
      <p:sp>
        <p:nvSpPr>
          <p:cNvPr id="173" name="Google Shape;173;g39ff3cfc005_2_1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ff3cfc005_2_118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g39ff3cfc005_2_1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data suggests we shouldn’t choose one method over the other, but use both strategically — email for efficiency, Email+Call for maximum value.</a:t>
            </a:r>
            <a:endParaRPr/>
          </a:p>
        </p:txBody>
      </p:sp>
      <p:sp>
        <p:nvSpPr>
          <p:cNvPr id="180" name="Google Shape;180;g39ff3cfc005_2_1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ff3cfc005_2_124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9ff3cfc005_2_1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Here’s our action plan: stop what’s not working, use email for reach, and deploy the combined approach for conversion. We’ll track results continuously.</a:t>
            </a:r>
            <a:endParaRPr/>
          </a:p>
        </p:txBody>
      </p:sp>
      <p:sp>
        <p:nvSpPr>
          <p:cNvPr id="187" name="Google Shape;187;g39ff3cfc005_2_1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ff3cfc005_2_130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g39ff3cfc005_2_1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By implementing this approach, we expect to significantly increase our average deal size while maintaining efficiency. What questions can I answer about applying this to your accounts?</a:t>
            </a:r>
            <a:endParaRPr/>
          </a:p>
        </p:txBody>
      </p:sp>
      <p:sp>
        <p:nvSpPr>
          <p:cNvPr id="194" name="Google Shape;194;g39ff3cfc005_2_1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zh-CN" sz="3400">
                <a:solidFill>
                  <a:schemeClr val="dk1"/>
                </a:solidFill>
              </a:rPr>
              <a:t>Smart Selling: Data-Driven Strategy for Our Creative Stationery Line</a:t>
            </a:r>
            <a:endParaRPr b="1" sz="3400"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zh-C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Maximizing Revenue Based on 6-Week Pilot Results</a:t>
            </a:r>
            <a:endParaRPr sz="1700"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zh-C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Presenter: </a:t>
            </a:r>
            <a:r>
              <a:rPr lang="zh-CN" sz="1700"/>
              <a:t>Xuan Suo</a:t>
            </a:r>
            <a:endParaRPr sz="1700"/>
          </a:p>
          <a:p>
            <a:pPr indent="-2476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zh-C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lang="zh-CN" sz="1700"/>
              <a:t>2025/11/3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C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Mission &amp; Agenda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Goal: Determine the most effective sales strategy using actual performance data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The Data Foundation: Cleaning &amp; validating our results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Key Findings: What the numbers definitively show us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⚡ The Time Question: Balancing revenue with effort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 Action Plan: Implementing what works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C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Trust in Our Data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15,000 customer interactions across 3 methods</a:t>
            </a:r>
            <a:endParaRPr sz="1200"/>
          </a:p>
          <a:p>
            <a:pPr indent="-215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Standardized Categories ('email' vs 'Email')</a:t>
            </a:r>
            <a:endParaRPr sz="1200"/>
          </a:p>
          <a:p>
            <a:pPr indent="-215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Handled Missing Data (7% missing revenue values corrected)</a:t>
            </a:r>
            <a:endParaRPr sz="1200"/>
          </a:p>
          <a:p>
            <a:pPr indent="-215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Removed Errors (impossible tenure records)</a:t>
            </a:r>
            <a:endParaRPr sz="1200"/>
          </a:p>
          <a:p>
            <a:pPr indent="-215900" lvl="0" marL="34290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Zero Duplicates — 14,998 clean customer records analyzed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C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We Measured Performance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Email: 7,466 customers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Call: 4,962 customers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+ Call: 2,572 customers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2523" y="1682100"/>
            <a:ext cx="3990775" cy="269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3278025"/>
            <a:ext cx="3596500" cy="110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C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Undeniable Revenue Champion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Email: $96.90</a:t>
            </a:r>
            <a:endParaRPr sz="1200"/>
          </a:p>
          <a:p>
            <a:pPr indent="-215900" lvl="0" marL="342900" rtl="0" algn="l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Call: $49.29</a:t>
            </a:r>
            <a:endParaRPr sz="1200"/>
          </a:p>
          <a:p>
            <a:pPr indent="-215900" lvl="0" marL="342900" rtl="0" algn="l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+ Call: $171.48</a:t>
            </a:r>
            <a:endParaRPr sz="1200"/>
          </a:p>
          <a:p>
            <a:pPr indent="-215900" lvl="0" marL="342900" rtl="0" algn="l">
              <a:lnSpc>
                <a:spcPct val="2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77% higher revenue per customer with Email + Call</a:t>
            </a:r>
            <a:endParaRPr sz="1200"/>
          </a:p>
        </p:txBody>
      </p:sp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1748" y="1764323"/>
            <a:ext cx="4461151" cy="178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C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Effort vs. Results Gap</a:t>
            </a:r>
            <a:endParaRPr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used 3× more often than Email+Call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Email+Call delivered 77% more revenue per customer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C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Time Question</a:t>
            </a:r>
            <a:endParaRPr/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= $96.90 per customer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Email+Call = $171.48 per customer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Estimates — Email: 0.1 hr | Call: 0.5 hr | Email+Call: 0.6 hr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C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Strategic Choice</a:t>
            </a:r>
            <a:endParaRPr/>
          </a:p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 A – Maximum Efficiency: Email for broad outreach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 B – Maximum Revenue: Email+Call for qualified leads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Smart Answer: Use both strategically and stop call-only outreach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C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New Sales Playbook</a:t>
            </a:r>
            <a:endParaRPr/>
          </a:p>
        </p:txBody>
      </p:sp>
      <p:sp>
        <p:nvSpPr>
          <p:cNvPr id="190" name="Google Shape;190;p3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🛑 Stop call-only outreach to cold leads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📧 Use Email for broad prospecting and qualification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📧📞 Use Email+Call for warm leads and high-value accounts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revenue per customer by method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C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Impact &amp; Q&amp;A</a:t>
            </a:r>
            <a:endParaRPr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💰 Higher earnings from premium conversions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 Clearer daily priorities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📈 Better results with same effort</a:t>
            </a:r>
            <a:endParaRPr sz="1200"/>
          </a:p>
          <a:p>
            <a:pPr indent="-215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zh-C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🤝 Stronger customer relationships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